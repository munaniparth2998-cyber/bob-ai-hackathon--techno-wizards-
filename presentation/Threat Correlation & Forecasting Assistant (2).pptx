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Relationship Id="rId11" Type="http://schemas.openxmlformats.org/officeDocument/2006/relationships/image" Target="../media/image18.png"/><Relationship Id="rId12" Type="http://schemas.openxmlformats.org/officeDocument/2006/relationships/image" Target="../media/image19.png"/><Relationship Id="rId13" Type="http://schemas.openxmlformats.org/officeDocument/2006/relationships/image" Target="../media/image2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Relationship Id="rId9" Type="http://schemas.openxmlformats.org/officeDocument/2006/relationships/image" Target="../media/image28.png"/><Relationship Id="rId10" Type="http://schemas.openxmlformats.org/officeDocument/2006/relationships/image" Target="../media/image29.png"/><Relationship Id="rId11" Type="http://schemas.openxmlformats.org/officeDocument/2006/relationships/image" Target="../media/image30.png"/><Relationship Id="rId12" Type="http://schemas.openxmlformats.org/officeDocument/2006/relationships/image" Target="../media/image31.png"/><Relationship Id="rId13" Type="http://schemas.openxmlformats.org/officeDocument/2006/relationships/image" Target="../media/image32.png"/><Relationship Id="rId14" Type="http://schemas.openxmlformats.org/officeDocument/2006/relationships/image" Target="../media/image33.png"/><Relationship Id="rId15" Type="http://schemas.openxmlformats.org/officeDocument/2006/relationships/image" Target="../media/image34.png"/><Relationship Id="rId16" Type="http://schemas.openxmlformats.org/officeDocument/2006/relationships/image" Target="../media/image35.png"/><Relationship Id="rId17" Type="http://schemas.openxmlformats.org/officeDocument/2006/relationships/image" Target="../media/image36.png"/><Relationship Id="rId18" Type="http://schemas.openxmlformats.org/officeDocument/2006/relationships/image" Target="../media/image37.png"/><Relationship Id="rId19" Type="http://schemas.openxmlformats.org/officeDocument/2006/relationships/image" Target="../media/image38.png"/><Relationship Id="rId20" Type="http://schemas.openxmlformats.org/officeDocument/2006/relationships/image" Target="../media/image39.png"/><Relationship Id="rId21" Type="http://schemas.openxmlformats.org/officeDocument/2006/relationships/image" Target="../media/image40.png"/><Relationship Id="rId22" Type="http://schemas.openxmlformats.org/officeDocument/2006/relationships/image" Target="../media/image41.png"/><Relationship Id="rId23" Type="http://schemas.openxmlformats.org/officeDocument/2006/relationships/image" Target="../media/image4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image" Target="../media/image46.png"/><Relationship Id="rId6" Type="http://schemas.openxmlformats.org/officeDocument/2006/relationships/image" Target="../media/image47.png"/><Relationship Id="rId7" Type="http://schemas.openxmlformats.org/officeDocument/2006/relationships/image" Target="../media/image48.png"/><Relationship Id="rId8" Type="http://schemas.openxmlformats.org/officeDocument/2006/relationships/image" Target="../media/image49.png"/><Relationship Id="rId9" Type="http://schemas.openxmlformats.org/officeDocument/2006/relationships/image" Target="../media/image50.png"/><Relationship Id="rId10" Type="http://schemas.openxmlformats.org/officeDocument/2006/relationships/image" Target="../media/image51.png"/><Relationship Id="rId11" Type="http://schemas.openxmlformats.org/officeDocument/2006/relationships/image" Target="../media/image52.png"/><Relationship Id="rId12" Type="http://schemas.openxmlformats.org/officeDocument/2006/relationships/image" Target="../media/image53.png"/><Relationship Id="rId13" Type="http://schemas.openxmlformats.org/officeDocument/2006/relationships/image" Target="../media/image54.png"/><Relationship Id="rId14" Type="http://schemas.openxmlformats.org/officeDocument/2006/relationships/image" Target="../media/image55.png"/><Relationship Id="rId15" Type="http://schemas.openxmlformats.org/officeDocument/2006/relationships/image" Target="../media/image56.png"/><Relationship Id="rId16" Type="http://schemas.openxmlformats.org/officeDocument/2006/relationships/image" Target="../media/image57.png"/><Relationship Id="rId17" Type="http://schemas.openxmlformats.org/officeDocument/2006/relationships/image" Target="../media/image58.png"/><Relationship Id="rId18" Type="http://schemas.openxmlformats.org/officeDocument/2006/relationships/image" Target="../media/image59.png"/><Relationship Id="rId19" Type="http://schemas.openxmlformats.org/officeDocument/2006/relationships/image" Target="../media/image6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Relationship Id="rId3" Type="http://schemas.openxmlformats.org/officeDocument/2006/relationships/image" Target="../media/image62.png"/><Relationship Id="rId4" Type="http://schemas.openxmlformats.org/officeDocument/2006/relationships/image" Target="../media/image63.png"/><Relationship Id="rId5" Type="http://schemas.openxmlformats.org/officeDocument/2006/relationships/image" Target="../media/image64.png"/><Relationship Id="rId6" Type="http://schemas.openxmlformats.org/officeDocument/2006/relationships/image" Target="../media/image65.png"/><Relationship Id="rId7" Type="http://schemas.openxmlformats.org/officeDocument/2006/relationships/image" Target="../media/image66.png"/><Relationship Id="rId8" Type="http://schemas.openxmlformats.org/officeDocument/2006/relationships/image" Target="../media/image67.png"/><Relationship Id="rId9" Type="http://schemas.openxmlformats.org/officeDocument/2006/relationships/image" Target="../media/image68.png"/><Relationship Id="rId10" Type="http://schemas.openxmlformats.org/officeDocument/2006/relationships/image" Target="../media/image69.png"/><Relationship Id="rId11" Type="http://schemas.openxmlformats.org/officeDocument/2006/relationships/image" Target="../media/image70.png"/><Relationship Id="rId12" Type="http://schemas.openxmlformats.org/officeDocument/2006/relationships/image" Target="../media/image71.png"/><Relationship Id="rId13" Type="http://schemas.openxmlformats.org/officeDocument/2006/relationships/image" Target="../media/image72.png"/><Relationship Id="rId14" Type="http://schemas.openxmlformats.org/officeDocument/2006/relationships/image" Target="../media/image73.png"/><Relationship Id="rId15" Type="http://schemas.openxmlformats.org/officeDocument/2006/relationships/image" Target="../media/image74.png"/><Relationship Id="rId16" Type="http://schemas.openxmlformats.org/officeDocument/2006/relationships/image" Target="../media/image75.png"/><Relationship Id="rId17" Type="http://schemas.openxmlformats.org/officeDocument/2006/relationships/image" Target="../media/image76.png"/><Relationship Id="rId18" Type="http://schemas.openxmlformats.org/officeDocument/2006/relationships/image" Target="../media/image77.png"/><Relationship Id="rId19" Type="http://schemas.openxmlformats.org/officeDocument/2006/relationships/image" Target="../media/image78.png"/><Relationship Id="rId20" Type="http://schemas.openxmlformats.org/officeDocument/2006/relationships/image" Target="../media/image79.png"/><Relationship Id="rId21" Type="http://schemas.openxmlformats.org/officeDocument/2006/relationships/image" Target="../media/image80.png"/><Relationship Id="rId22" Type="http://schemas.openxmlformats.org/officeDocument/2006/relationships/image" Target="../media/image81.png"/><Relationship Id="rId23" Type="http://schemas.openxmlformats.org/officeDocument/2006/relationships/image" Target="../media/image8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83.png"/><Relationship Id="rId4" Type="http://schemas.openxmlformats.org/officeDocument/2006/relationships/image" Target="../media/image84.png"/><Relationship Id="rId5" Type="http://schemas.openxmlformats.org/officeDocument/2006/relationships/image" Target="../media/image85.png"/><Relationship Id="rId6" Type="http://schemas.openxmlformats.org/officeDocument/2006/relationships/image" Target="../media/image86.png"/><Relationship Id="rId7" Type="http://schemas.openxmlformats.org/officeDocument/2006/relationships/image" Target="../media/image87.png"/><Relationship Id="rId8" Type="http://schemas.openxmlformats.org/officeDocument/2006/relationships/image" Target="../media/image88.png"/><Relationship Id="rId9" Type="http://schemas.openxmlformats.org/officeDocument/2006/relationships/image" Target="../media/image89.png"/><Relationship Id="rId10" Type="http://schemas.openxmlformats.org/officeDocument/2006/relationships/image" Target="../media/image90.png"/><Relationship Id="rId11" Type="http://schemas.openxmlformats.org/officeDocument/2006/relationships/image" Target="../media/image91.png"/><Relationship Id="rId12" Type="http://schemas.openxmlformats.org/officeDocument/2006/relationships/image" Target="../media/image92.png"/><Relationship Id="rId13" Type="http://schemas.openxmlformats.org/officeDocument/2006/relationships/image" Target="../media/image93.png"/><Relationship Id="rId14" Type="http://schemas.openxmlformats.org/officeDocument/2006/relationships/image" Target="../media/image94.png"/><Relationship Id="rId15" Type="http://schemas.openxmlformats.org/officeDocument/2006/relationships/image" Target="../media/image95.png"/><Relationship Id="rId16" Type="http://schemas.openxmlformats.org/officeDocument/2006/relationships/image" Target="../media/image96.png"/><Relationship Id="rId17" Type="http://schemas.openxmlformats.org/officeDocument/2006/relationships/image" Target="../media/image9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8.png"/><Relationship Id="rId3" Type="http://schemas.openxmlformats.org/officeDocument/2006/relationships/image" Target="../media/image99.png"/><Relationship Id="rId4" Type="http://schemas.openxmlformats.org/officeDocument/2006/relationships/image" Target="../media/image100.png"/><Relationship Id="rId5" Type="http://schemas.openxmlformats.org/officeDocument/2006/relationships/image" Target="../media/image101.png"/><Relationship Id="rId6" Type="http://schemas.openxmlformats.org/officeDocument/2006/relationships/image" Target="../media/image102.png"/><Relationship Id="rId7" Type="http://schemas.openxmlformats.org/officeDocument/2006/relationships/image" Target="../media/image103.png"/><Relationship Id="rId8" Type="http://schemas.openxmlformats.org/officeDocument/2006/relationships/image" Target="../media/image104.png"/><Relationship Id="rId9" Type="http://schemas.openxmlformats.org/officeDocument/2006/relationships/image" Target="../media/image105.png"/><Relationship Id="rId10" Type="http://schemas.openxmlformats.org/officeDocument/2006/relationships/image" Target="../media/image106.png"/><Relationship Id="rId11" Type="http://schemas.openxmlformats.org/officeDocument/2006/relationships/image" Target="../media/image107.png"/><Relationship Id="rId12" Type="http://schemas.openxmlformats.org/officeDocument/2006/relationships/image" Target="../media/image108.png"/><Relationship Id="rId13" Type="http://schemas.openxmlformats.org/officeDocument/2006/relationships/image" Target="../media/image109.png"/><Relationship Id="rId14" Type="http://schemas.openxmlformats.org/officeDocument/2006/relationships/image" Target="../media/image110.png"/><Relationship Id="rId15" Type="http://schemas.openxmlformats.org/officeDocument/2006/relationships/image" Target="../media/image111.png"/><Relationship Id="rId16" Type="http://schemas.openxmlformats.org/officeDocument/2006/relationships/image" Target="../media/image112.png"/><Relationship Id="rId17" Type="http://schemas.openxmlformats.org/officeDocument/2006/relationships/image" Target="../media/image1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114.png"/><Relationship Id="rId4" Type="http://schemas.openxmlformats.org/officeDocument/2006/relationships/image" Target="../media/image115.png"/><Relationship Id="rId5" Type="http://schemas.openxmlformats.org/officeDocument/2006/relationships/image" Target="../media/image116.png"/><Relationship Id="rId6" Type="http://schemas.openxmlformats.org/officeDocument/2006/relationships/image" Target="../media/image117.png"/><Relationship Id="rId7" Type="http://schemas.openxmlformats.org/officeDocument/2006/relationships/image" Target="../media/image118.png"/><Relationship Id="rId8" Type="http://schemas.openxmlformats.org/officeDocument/2006/relationships/image" Target="../media/image119.png"/><Relationship Id="rId9" Type="http://schemas.openxmlformats.org/officeDocument/2006/relationships/image" Target="../media/image120.png"/><Relationship Id="rId10" Type="http://schemas.openxmlformats.org/officeDocument/2006/relationships/image" Target="../media/image121.png"/><Relationship Id="rId11" Type="http://schemas.openxmlformats.org/officeDocument/2006/relationships/image" Target="../media/image122.png"/><Relationship Id="rId12" Type="http://schemas.openxmlformats.org/officeDocument/2006/relationships/image" Target="../media/image123.png"/><Relationship Id="rId13" Type="http://schemas.openxmlformats.org/officeDocument/2006/relationships/image" Target="../media/image124.png"/><Relationship Id="rId14" Type="http://schemas.openxmlformats.org/officeDocument/2006/relationships/image" Target="../media/image125.png"/><Relationship Id="rId15" Type="http://schemas.openxmlformats.org/officeDocument/2006/relationships/image" Target="../media/image126.png"/><Relationship Id="rId16" Type="http://schemas.openxmlformats.org/officeDocument/2006/relationships/image" Target="../media/image127.png"/><Relationship Id="rId17" Type="http://schemas.openxmlformats.org/officeDocument/2006/relationships/image" Target="../media/image128.png"/><Relationship Id="rId18" Type="http://schemas.openxmlformats.org/officeDocument/2006/relationships/image" Target="../media/image129.png"/><Relationship Id="rId19" Type="http://schemas.openxmlformats.org/officeDocument/2006/relationships/image" Target="../media/image130.png"/><Relationship Id="rId20" Type="http://schemas.openxmlformats.org/officeDocument/2006/relationships/image" Target="../media/image131.png"/><Relationship Id="rId21" Type="http://schemas.openxmlformats.org/officeDocument/2006/relationships/image" Target="../media/image132.png"/><Relationship Id="rId22" Type="http://schemas.openxmlformats.org/officeDocument/2006/relationships/image" Target="../media/image133.png"/><Relationship Id="rId23" Type="http://schemas.openxmlformats.org/officeDocument/2006/relationships/image" Target="../media/image134.png"/><Relationship Id="rId24" Type="http://schemas.openxmlformats.org/officeDocument/2006/relationships/image" Target="../media/image135.png"/><Relationship Id="rId25" Type="http://schemas.openxmlformats.org/officeDocument/2006/relationships/image" Target="../media/image136.png"/><Relationship Id="rId26" Type="http://schemas.openxmlformats.org/officeDocument/2006/relationships/image" Target="../media/image137.png"/><Relationship Id="rId27" Type="http://schemas.openxmlformats.org/officeDocument/2006/relationships/image" Target="../media/image138.png"/><Relationship Id="rId28" Type="http://schemas.openxmlformats.org/officeDocument/2006/relationships/image" Target="../media/image13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409575"/>
            <a:ext cx="11144250" cy="60388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7463" y="1966912"/>
            <a:ext cx="4676923" cy="2952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90825" y="4329112"/>
            <a:ext cx="6610350" cy="5619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45406" y="2490787"/>
            <a:ext cx="9501187" cy="1095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312"/>
              </a:lnSpc>
            </a:pPr>
            <a:r>
              <a:rPr b="0" sz="3750" i="0" u="none">
                <a:solidFill>
                  <a:srgbClr val="0F172A"/>
                </a:solidFill>
                <a:latin typeface="Poppins ExtraBold"/>
              </a:rPr>
              <a:t>Threat Correlation &amp; </a:t>
            </a:r>
            <a:r>
              <a:rPr b="0" sz="3750" i="0" u="none">
                <a:solidFill>
                  <a:srgbClr val="0284C7"/>
                </a:solidFill>
                <a:latin typeface="Poppins ExtraBold"/>
              </a:rPr>
              <a:t>Forecasting 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81425" y="3738562"/>
            <a:ext cx="46291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b="0" sz="1500" i="0" u="none">
                <a:solidFill>
                  <a:srgbClr val="475569"/>
                </a:solidFill>
                <a:latin typeface="Inter Medium"/>
              </a:rPr>
              <a:t>Threat Intelligence Correlation &amp; Alert Prioritisation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38438" y="2052637"/>
            <a:ext cx="131564" cy="1238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71800" y="4667250"/>
            <a:ext cx="123825" cy="1238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190875" y="4652962"/>
            <a:ext cx="13144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475569"/>
                </a:solidFill>
                <a:latin typeface="Inter SemiBold"/>
              </a:rPr>
              <a:t>SOC Alert Intelligence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38725" y="4667250"/>
            <a:ext cx="142875" cy="1238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276850" y="4652962"/>
            <a:ext cx="1524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475569"/>
                </a:solidFill>
                <a:latin typeface="Inter SemiBold"/>
              </a:rPr>
              <a:t>Explainable Attack Chains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34250" y="4667250"/>
            <a:ext cx="123825" cy="1238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553325" y="4652962"/>
            <a:ext cx="16668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475569"/>
                </a:solidFill>
                <a:latin typeface="Inter SemiBold"/>
              </a:rPr>
              <a:t>Knowledge-Based Forecast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2295525"/>
            <a:ext cx="3575000" cy="23431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8425" y="2295525"/>
            <a:ext cx="3575000" cy="23431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975" y="2295525"/>
            <a:ext cx="3575149" cy="23431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2012" y="409575"/>
            <a:ext cx="4495561" cy="371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950" i="0" u="none">
                <a:solidFill>
                  <a:srgbClr val="0F172A"/>
                </a:solidFill>
                <a:latin typeface="Poppins"/>
              </a:rPr>
              <a:t>Too Many Alerts, Too Little Context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67937" y="461962"/>
            <a:ext cx="1500187" cy="266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875" y="481012"/>
            <a:ext cx="223837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1050" y="4953000"/>
            <a:ext cx="171450" cy="1714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85850" y="4957762"/>
            <a:ext cx="66484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75569"/>
                </a:solidFill>
                <a:latin typeface="Inter"/>
              </a:rPr>
              <a:t>Core Challenge:</a:t>
            </a:r>
            <a:r>
              <a:rPr b="0" sz="1050" i="0" u="none">
                <a:solidFill>
                  <a:srgbClr val="475569"/>
                </a:solidFill>
                <a:latin typeface="Inter Medium"/>
              </a:rPr>
              <a:t> Scattered alerts make the larger attack story difficult to see and investigate effectively.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2950" y="2581275"/>
            <a:ext cx="457200" cy="457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42950" y="3171825"/>
            <a:ext cx="3293692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oppins"/>
              </a:rPr>
              <a:t>Alert Overload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2950" y="3581400"/>
            <a:ext cx="313685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Inter"/>
              </a:rPr>
              <a:t>Security Operations Centers (SOCs) receive thousands of daily security alerts. Critical signals drown in voluminous background noise, overwhelming analyst capacity.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27500" y="2581275"/>
            <a:ext cx="457200" cy="4572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27500" y="3171825"/>
            <a:ext cx="3293692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oppins"/>
              </a:rPr>
              <a:t>Hidden Relationships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7500" y="3581400"/>
            <a:ext cx="313685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Inter"/>
              </a:rPr>
              <a:t>Related alerts are routinely viewed as disjointed, independent events. Attackers move across stages while SOC logs present isolated, piecemeal snapshots.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12050" y="2581275"/>
            <a:ext cx="457200" cy="4572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312050" y="3171825"/>
            <a:ext cx="3293849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oppins"/>
              </a:rPr>
              <a:t>Difficult Prioritisation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2050" y="3581400"/>
            <a:ext cx="3136999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Inter"/>
              </a:rPr>
              <a:t>Analysts struggle to rapidly deduce which incident constitutes an active multi-stage campaign and why a given sequence demands immediate triage.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8200" y="2705100"/>
            <a:ext cx="266700" cy="2095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22750" y="2705100"/>
            <a:ext cx="266700" cy="2095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21588" y="2705100"/>
            <a:ext cx="238125" cy="2095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2249388"/>
            <a:ext cx="11144250" cy="685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3125688"/>
            <a:ext cx="2106810" cy="2187773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83085" y="3125688"/>
            <a:ext cx="2106959" cy="2187773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2445" y="3125688"/>
            <a:ext cx="2106959" cy="2187773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01805" y="3125688"/>
            <a:ext cx="2106959" cy="2187773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61165" y="3125688"/>
            <a:ext cx="2106810" cy="218777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2012" y="409575"/>
            <a:ext cx="1600200" cy="371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950" i="0" u="none">
                <a:solidFill>
                  <a:srgbClr val="0F172A"/>
                </a:solidFill>
                <a:latin typeface="Poppins"/>
              </a:rPr>
              <a:t>Our Solution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82187" y="461962"/>
            <a:ext cx="1785937" cy="2667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3875" y="481012"/>
            <a:ext cx="223837" cy="228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52475" y="2411313"/>
            <a:ext cx="277177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050" i="0" u="none">
                <a:solidFill>
                  <a:srgbClr val="334155"/>
                </a:solidFill>
                <a:latin typeface="Inter"/>
              </a:rPr>
              <a:t>Threat Correlation &amp; Forecasting Assistant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" y="3325713"/>
            <a:ext cx="323850" cy="2190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5800" y="3659088"/>
            <a:ext cx="400050" cy="4000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85800" y="4173438"/>
            <a:ext cx="1872108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1" sz="1125" i="0" u="none">
                <a:solidFill>
                  <a:srgbClr val="0F172A"/>
                </a:solidFill>
                <a:latin typeface="Poppins"/>
              </a:rPr>
              <a:t>Alert Correlation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473475"/>
            <a:ext cx="1782960" cy="479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64748B"/>
                </a:solidFill>
                <a:latin typeface="Inter"/>
              </a:rPr>
              <a:t>Aggregates isolated events using source IP proximity and deterministic time windows.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45010" y="3325713"/>
            <a:ext cx="323850" cy="2190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945010" y="3659088"/>
            <a:ext cx="400050" cy="4000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945010" y="4173438"/>
            <a:ext cx="187226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1" sz="1125" i="0" u="none">
                <a:solidFill>
                  <a:srgbClr val="0F172A"/>
                </a:solidFill>
                <a:latin typeface="Poppins"/>
              </a:rPr>
              <a:t>MITRE Mapping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45010" y="4473475"/>
            <a:ext cx="1783109" cy="479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64748B"/>
                </a:solidFill>
                <a:latin typeface="Inter"/>
              </a:rPr>
              <a:t>Translates suspicious activity into standardized adversary technique classifications.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204370" y="3325713"/>
            <a:ext cx="323850" cy="2190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204370" y="3659088"/>
            <a:ext cx="400050" cy="4000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204370" y="4173438"/>
            <a:ext cx="187226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1" sz="1125" i="0" u="none">
                <a:solidFill>
                  <a:srgbClr val="0F172A"/>
                </a:solidFill>
                <a:latin typeface="Poppins"/>
              </a:rPr>
              <a:t>Explainable Risk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04370" y="4473475"/>
            <a:ext cx="1783109" cy="479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64748B"/>
                </a:solidFill>
                <a:latin typeface="Inter"/>
              </a:rPr>
              <a:t>Calculates transparent, technique-weighted point scores rather than black-box labels.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463730" y="3325713"/>
            <a:ext cx="323850" cy="21907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63730" y="3659088"/>
            <a:ext cx="400050" cy="40005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463730" y="4173438"/>
            <a:ext cx="187226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1" sz="1125" i="0" u="none">
                <a:solidFill>
                  <a:srgbClr val="0F172A"/>
                </a:solidFill>
                <a:latin typeface="Poppins"/>
              </a:rPr>
              <a:t>Knowledge Forecast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63730" y="4473475"/>
            <a:ext cx="1783109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64748B"/>
                </a:solidFill>
                <a:latin typeface="Inter"/>
              </a:rPr>
              <a:t>Identifies plausible next techniques grounded in documented ATT&amp;CK relationships.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723090" y="3325713"/>
            <a:ext cx="323850" cy="219075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723090" y="3659088"/>
            <a:ext cx="400050" cy="40005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723090" y="4173438"/>
            <a:ext cx="1872108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1" sz="1125" i="0" u="none">
                <a:solidFill>
                  <a:srgbClr val="0F172A"/>
                </a:solidFill>
                <a:latin typeface="Poppins"/>
              </a:rPr>
              <a:t>BLUF Report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23090" y="4473475"/>
            <a:ext cx="1782960" cy="479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64748B"/>
                </a:solidFill>
                <a:latin typeface="Inter"/>
              </a:rPr>
              <a:t>Generates an actionable Bottom Line Up Front executive summary for immediate action.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76287" y="3773388"/>
            <a:ext cx="219075" cy="17145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059310" y="3773388"/>
            <a:ext cx="171450" cy="17145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337720" y="3773388"/>
            <a:ext cx="133350" cy="17145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578030" y="3773388"/>
            <a:ext cx="171450" cy="17145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856440" y="3773388"/>
            <a:ext cx="133350" cy="1714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2012" y="409575"/>
            <a:ext cx="1720215" cy="371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950" i="0" u="none">
                <a:solidFill>
                  <a:srgbClr val="0F172A"/>
                </a:solidFill>
                <a:latin typeface="Poppins"/>
              </a:rPr>
              <a:t>How It Works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5062" y="461962"/>
            <a:ext cx="1643062" cy="2667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481012"/>
            <a:ext cx="223837" cy="228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875" y="2683222"/>
            <a:ext cx="1387971" cy="12382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88046" y="3235672"/>
            <a:ext cx="85725" cy="1333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49971" y="2683222"/>
            <a:ext cx="1387971" cy="12382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14142" y="3235672"/>
            <a:ext cx="85725" cy="1333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76067" y="2683222"/>
            <a:ext cx="1387971" cy="12382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40238" y="3235672"/>
            <a:ext cx="85725" cy="1333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02163" y="2683222"/>
            <a:ext cx="1387971" cy="12382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66334" y="3235672"/>
            <a:ext cx="85725" cy="1333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28259" y="2683222"/>
            <a:ext cx="1387971" cy="12382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2430" y="3235672"/>
            <a:ext cx="85725" cy="1333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54355" y="2683222"/>
            <a:ext cx="1387971" cy="12382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18526" y="3235672"/>
            <a:ext cx="85725" cy="1333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80451" y="2683222"/>
            <a:ext cx="1387971" cy="12382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41660" y="3000821"/>
            <a:ext cx="152400" cy="1714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55910" y="3248471"/>
            <a:ext cx="7239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825" i="0" u="none">
                <a:solidFill>
                  <a:srgbClr val="0F172A"/>
                </a:solidFill>
                <a:latin typeface="Poppins"/>
              </a:rPr>
              <a:t>RAW ALERTS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6385" y="3486596"/>
            <a:ext cx="742950" cy="1361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2"/>
              </a:lnSpc>
            </a:pPr>
            <a:r>
              <a:rPr b="0" sz="825" i="0" u="none">
                <a:solidFill>
                  <a:srgbClr val="64748B"/>
                </a:solidFill>
                <a:latin typeface="Inter"/>
              </a:rPr>
              <a:t>Read alert data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748706" y="3000821"/>
            <a:ext cx="190500" cy="1714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363390" y="3248471"/>
            <a:ext cx="961132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825" i="0" u="none">
                <a:solidFill>
                  <a:srgbClr val="0F172A"/>
                </a:solidFill>
                <a:latin typeface="Poppins"/>
              </a:rPr>
              <a:t>PREPROCESSING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43906" y="3486596"/>
            <a:ext cx="800100" cy="1361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2"/>
              </a:lnSpc>
            </a:pPr>
            <a:r>
              <a:rPr b="0" sz="825" i="0" u="none">
                <a:solidFill>
                  <a:srgbClr val="64748B"/>
                </a:solidFill>
                <a:latin typeface="Inter"/>
              </a:rPr>
              <a:t>Clean &amp; validate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360515" y="3000821"/>
            <a:ext cx="219075" cy="17145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054226" y="3248471"/>
            <a:ext cx="831651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825" i="0" u="none">
                <a:solidFill>
                  <a:srgbClr val="0F172A"/>
                </a:solidFill>
                <a:latin typeface="Poppins"/>
              </a:rPr>
              <a:t>CORRELATION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46190" y="3486596"/>
            <a:ext cx="847725" cy="1361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2"/>
              </a:lnSpc>
            </a:pPr>
            <a:r>
              <a:rPr b="0" sz="825" i="0" u="none">
                <a:solidFill>
                  <a:srgbClr val="64748B"/>
                </a:solidFill>
                <a:latin typeface="Inter"/>
              </a:rPr>
              <a:t>Same IP + 10 min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10423" y="3000821"/>
            <a:ext cx="171450" cy="17145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655022" y="3248471"/>
            <a:ext cx="882104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825" i="0" u="none">
                <a:solidFill>
                  <a:srgbClr val="0F172A"/>
                </a:solidFill>
                <a:latin typeface="Poppins"/>
              </a:rPr>
              <a:t>MITRE ATT&amp;CK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91336" y="3486596"/>
            <a:ext cx="809625" cy="1361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2"/>
              </a:lnSpc>
            </a:pPr>
            <a:r>
              <a:rPr b="0" sz="825" i="0" u="none">
                <a:solidFill>
                  <a:srgbClr val="64748B"/>
                </a:solidFill>
                <a:latin typeface="Inter"/>
              </a:rPr>
              <a:t>Map techniques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636519" y="3000821"/>
            <a:ext cx="171450" cy="17145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384107" y="3248471"/>
            <a:ext cx="67627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825" i="0" u="none">
                <a:solidFill>
                  <a:srgbClr val="0F172A"/>
                </a:solidFill>
                <a:latin typeface="Poppins"/>
              </a:rPr>
              <a:t>RISK SCORE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407" y="3486596"/>
            <a:ext cx="447675" cy="1361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2"/>
              </a:lnSpc>
            </a:pPr>
            <a:r>
              <a:rPr b="0" sz="825" i="0" u="none">
                <a:solidFill>
                  <a:srgbClr val="64748B"/>
                </a:solidFill>
                <a:latin typeface="Inter"/>
              </a:rPr>
              <a:t>Prioritise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262616" y="3000821"/>
            <a:ext cx="171450" cy="17145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046368" y="3248471"/>
            <a:ext cx="603944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825" i="0" u="none">
                <a:solidFill>
                  <a:srgbClr val="0F172A"/>
                </a:solidFill>
                <a:latin typeface="Poppins"/>
              </a:rPr>
              <a:t>FORECAST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00653" y="3486596"/>
            <a:ext cx="1095375" cy="1361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2"/>
              </a:lnSpc>
            </a:pPr>
            <a:r>
              <a:rPr b="0" sz="825" i="0" u="none">
                <a:solidFill>
                  <a:srgbClr val="64748B"/>
                </a:solidFill>
                <a:latin typeface="Inter"/>
              </a:rPr>
              <a:t>Plausible next activity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888712" y="3000821"/>
            <a:ext cx="171450" cy="17145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0591948" y="3248471"/>
            <a:ext cx="764976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825" i="0" u="none">
                <a:solidFill>
                  <a:srgbClr val="0F172A"/>
                </a:solidFill>
                <a:latin typeface="Poppins"/>
              </a:rPr>
              <a:t>BLUF REPORT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55324" y="3486596"/>
            <a:ext cx="1038225" cy="1361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2"/>
              </a:lnSpc>
            </a:pPr>
            <a:r>
              <a:rPr b="0" sz="825" i="0" u="none">
                <a:solidFill>
                  <a:srgbClr val="64748B"/>
                </a:solidFill>
                <a:latin typeface="Inter"/>
              </a:rPr>
              <a:t>Actionable summary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04850" y="4311997"/>
            <a:ext cx="171450" cy="171450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470350" y="4311997"/>
            <a:ext cx="171450" cy="171450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235850" y="4311997"/>
            <a:ext cx="171450" cy="17145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009650" y="4292947"/>
            <a:ext cx="29463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F172A"/>
                </a:solidFill>
                <a:latin typeface="Inter"/>
              </a:rPr>
              <a:t>Input Quality Assured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9650" y="4473922"/>
            <a:ext cx="2946350" cy="319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64748B"/>
                </a:solidFill>
                <a:latin typeface="Inter"/>
              </a:rPr>
              <a:t>Deduplicates alerts, corrects corrupt timestamps, and orders events chronologically.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75150" y="4292947"/>
            <a:ext cx="294635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F172A"/>
                </a:solidFill>
                <a:latin typeface="Inter"/>
              </a:rPr>
              <a:t>Deterministic Logic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75150" y="4473922"/>
            <a:ext cx="2946350" cy="319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64748B"/>
                </a:solidFill>
                <a:latin typeface="Inter"/>
              </a:rPr>
              <a:t>Rules are fully explainable, transparent to analysts, and free of unpredictable heuristics.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40650" y="4292947"/>
            <a:ext cx="2946499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F172A"/>
                </a:solidFill>
                <a:latin typeface="Inter"/>
              </a:rPr>
              <a:t>Decision-Ready Output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40650" y="4473922"/>
            <a:ext cx="2946499" cy="319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64748B"/>
                </a:solidFill>
                <a:latin typeface="Inter"/>
              </a:rPr>
              <a:t>Engineered for SOC analysts to review complete threats in seconds, not hours.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2779365"/>
            <a:ext cx="11144250" cy="609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" y="2922240"/>
            <a:ext cx="923925" cy="3238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3350" y="2922240"/>
            <a:ext cx="1219200" cy="3238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9026" y="2922240"/>
            <a:ext cx="1685925" cy="3238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91427" y="2922240"/>
            <a:ext cx="1457325" cy="3238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3875" y="3560415"/>
            <a:ext cx="5486400" cy="133722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81725" y="3560415"/>
            <a:ext cx="5486400" cy="13372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9162" y="409575"/>
            <a:ext cx="5125640" cy="371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950" i="0" u="none">
                <a:solidFill>
                  <a:srgbClr val="0F172A"/>
                </a:solidFill>
                <a:latin typeface="Poppins"/>
              </a:rPr>
              <a:t>From Individual Alerts to Attack Chains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96500" y="461962"/>
            <a:ext cx="1571625" cy="2667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3875" y="2074515"/>
            <a:ext cx="11144250" cy="533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3875" y="481012"/>
            <a:ext cx="280987" cy="228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42950" y="2260252"/>
            <a:ext cx="5246489" cy="161925"/>
          </a:xfrm>
          <a:prstGeom prst="rect">
            <a:avLst/>
          </a:prstGeom>
          <a:noFill/>
        </p:spPr>
        <p:txBody>
          <a:bodyPr wrap="square" lIns="107751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JetBrains Mono"/>
              </a:rPr>
              <a:t>CORE RULE: SAME SOURCE IP + CLOSE TIME WINDOW = RELATED ACTIVITY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639300" y="2217390"/>
            <a:ext cx="1809750" cy="2476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512962" y="3017490"/>
            <a:ext cx="114300" cy="1333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538638" y="3017490"/>
            <a:ext cx="114300" cy="1333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031039" y="3017490"/>
            <a:ext cx="114300" cy="1333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81050" y="5173860"/>
            <a:ext cx="133350" cy="1714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47750" y="5178623"/>
            <a:ext cx="673417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 Medium"/>
              </a:rPr>
              <a:t>Related alerts are grouped into readable attack stories instead of being analysed only as isolated events.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42950" y="2279302"/>
            <a:ext cx="107751" cy="1238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616225" y="3022252"/>
            <a:ext cx="123825" cy="12382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641901" y="3022252"/>
            <a:ext cx="152400" cy="12382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134302" y="3022252"/>
            <a:ext cx="142875" cy="12382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23900" y="3765202"/>
            <a:ext cx="2030253" cy="200025"/>
          </a:xfrm>
          <a:prstGeom prst="rect">
            <a:avLst/>
          </a:prstGeom>
          <a:noFill/>
        </p:spPr>
        <p:txBody>
          <a:bodyPr wrap="square" lIns="13335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9F1239"/>
                </a:solidFill>
                <a:latin typeface="Poppins"/>
              </a:rPr>
              <a:t>BEFORE: Individual Alerts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400550" y="3741390"/>
            <a:ext cx="1409700" cy="24765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95350" y="4103340"/>
            <a:ext cx="4914900" cy="1599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334155"/>
                </a:solidFill>
                <a:latin typeface="Inter"/>
              </a:rPr>
              <a:t>Alerts handled in silos without shared chronological context.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5350" y="4330005"/>
            <a:ext cx="4914900" cy="1599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334155"/>
                </a:solidFill>
                <a:latin typeface="Inter"/>
              </a:rPr>
              <a:t>Analyst must manually correlate IP logs and event timestamps.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5350" y="4556670"/>
            <a:ext cx="4914900" cy="1599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334155"/>
                </a:solidFill>
                <a:latin typeface="Inter"/>
              </a:rPr>
              <a:t>Multi-stage intrusion stealthily progresses beneath alert volume.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1750" y="3765202"/>
            <a:ext cx="2000250" cy="200025"/>
          </a:xfrm>
          <a:prstGeom prst="rect">
            <a:avLst/>
          </a:prstGeom>
          <a:noFill/>
        </p:spPr>
        <p:txBody>
          <a:bodyPr wrap="square" lIns="13335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65F46"/>
                </a:solidFill>
                <a:latin typeface="Poppins"/>
              </a:rPr>
              <a:t>AFTER: Correlated Story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191750" y="3741390"/>
            <a:ext cx="1276350" cy="24765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553200" y="4103340"/>
            <a:ext cx="4914900" cy="1599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334155"/>
                </a:solidFill>
                <a:latin typeface="Inter"/>
              </a:rPr>
              <a:t>4 fragmented events unified into 1 coherent attack timeline.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53200" y="4330005"/>
            <a:ext cx="4914900" cy="1599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334155"/>
                </a:solidFill>
                <a:latin typeface="Inter"/>
              </a:rPr>
              <a:t>Instant visibility into attacker progression and targeted assets.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53200" y="4556670"/>
            <a:ext cx="4914900" cy="1599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334155"/>
                </a:solidFill>
                <a:latin typeface="Inter"/>
              </a:rPr>
              <a:t>Eliminates manual pivoting, slashing dwell time and triage overhead.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23900" y="3793777"/>
            <a:ext cx="133350" cy="13335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71525" y="4084290"/>
            <a:ext cx="762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E11D48"/>
                </a:solidFill>
                <a:latin typeface="Inter"/>
              </a:rPr>
              <a:t>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1525" y="4310955"/>
            <a:ext cx="762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E11D48"/>
                </a:solidFill>
                <a:latin typeface="Inter"/>
              </a:rP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1525" y="4537620"/>
            <a:ext cx="762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E11D48"/>
                </a:solidFill>
                <a:latin typeface="Inter"/>
              </a:rPr>
              <a:t>•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381750" y="3793777"/>
            <a:ext cx="133350" cy="13335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429375" y="4084290"/>
            <a:ext cx="762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059669"/>
                </a:solidFill>
                <a:latin typeface="Inter"/>
              </a:rPr>
              <a:t>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29375" y="4310955"/>
            <a:ext cx="762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059669"/>
                </a:solidFill>
                <a:latin typeface="Inter"/>
              </a:rPr>
              <a:t>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29375" y="4537620"/>
            <a:ext cx="762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059669"/>
                </a:solidFill>
                <a:latin typeface="Inter"/>
              </a:rPr>
              <a:t>•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2158305"/>
            <a:ext cx="6378475" cy="324609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1900" y="2158305"/>
            <a:ext cx="4556075" cy="324609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90587" y="409575"/>
            <a:ext cx="4285535" cy="371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950" i="0" u="none">
                <a:solidFill>
                  <a:srgbClr val="0F172A"/>
                </a:solidFill>
                <a:latin typeface="Poppins"/>
              </a:rPr>
              <a:t>MITRE ATT&amp;CK + Explainable Risk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7937" y="461962"/>
            <a:ext cx="1500187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875" y="481012"/>
            <a:ext cx="252412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2950" y="2377380"/>
            <a:ext cx="6237342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oppins"/>
              </a:rPr>
              <a:t>Observed Chain Technique Breakdown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42950" y="2710755"/>
          <a:ext cx="5940323" cy="22002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825251"/>
                <a:gridCol w="1721941"/>
                <a:gridCol w="2557462"/>
                <a:gridCol w="835669"/>
              </a:tblGrid>
              <a:tr h="440055">
                <a:tc>
                  <a:txBody>
                    <a:bodyPr/>
                    <a:lstStyle/>
                    <a:p>
                      <a:pPr algn="l"/>
                      <a:r>
                        <a:rPr b="1" sz="825" i="0" u="none">
                          <a:solidFill>
                            <a:srgbClr val="64748B"/>
                          </a:solidFill>
                          <a:latin typeface="Inter"/>
                        </a:rPr>
                        <a:t>MITRE ID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825" i="0" u="none">
                          <a:solidFill>
                            <a:srgbClr val="64748B"/>
                          </a:solidFill>
                          <a:latin typeface="Inter"/>
                        </a:rPr>
                        <a:t>Technique Name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825" i="0" u="none">
                          <a:solidFill>
                            <a:srgbClr val="64748B"/>
                          </a:solidFill>
                          <a:latin typeface="Inter"/>
                        </a:rPr>
                        <a:t>Context Rationale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825" i="0" u="none">
                          <a:solidFill>
                            <a:srgbClr val="64748B"/>
                          </a:solidFill>
                          <a:latin typeface="Inter"/>
                        </a:rPr>
                        <a:t>Score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Inter"/>
                        </a:rPr>
                        <a:t>T1110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Inter"/>
                        </a:rPr>
                        <a:t>Brute Force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Inter"/>
                        </a:rPr>
                        <a:t>Attempted credential access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Inter"/>
                        </a:rPr>
                        <a:t>2 pts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Inter"/>
                        </a:rPr>
                        <a:t>T1078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Inter"/>
                        </a:rPr>
                        <a:t>Valid Accounts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Inter"/>
                        </a:rPr>
                        <a:t>Use of legitimate credentials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Inter"/>
                        </a:rPr>
                        <a:t>5 pts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Inter"/>
                        </a:rPr>
                        <a:t>T1098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Inter"/>
                        </a:rPr>
                        <a:t>Account Manipulation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Inter"/>
                        </a:rPr>
                        <a:t>Modifying account access/privileges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Inter"/>
                        </a:rPr>
                        <a:t>7 pts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Inter"/>
                        </a:rPr>
                        <a:t>T1005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Inter"/>
                        </a:rPr>
                        <a:t>Data from Local System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Inter"/>
                        </a:rPr>
                        <a:t>Collection of sensitive data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Inter"/>
                        </a:rPr>
                        <a:t>8 pts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42950" y="5025330"/>
            <a:ext cx="5940325" cy="159990"/>
          </a:xfrm>
          <a:prstGeom prst="rect">
            <a:avLst/>
          </a:prstGeom>
          <a:noFill/>
        </p:spPr>
        <p:txBody>
          <a:bodyPr wrap="square" lIns="114300" rIns="0" t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b="0" sz="900" i="0" u="none">
                <a:solidFill>
                  <a:srgbClr val="64748B"/>
                </a:solidFill>
                <a:latin typeface="Inter"/>
              </a:rPr>
              <a:t>The score increases as higher-impact techniques appear in the attack chain.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50025" y="4873079"/>
            <a:ext cx="4079825" cy="2931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55"/>
              </a:lnSpc>
            </a:pPr>
            <a:r>
              <a:rPr b="0" sz="825" i="1" u="none">
                <a:solidFill>
                  <a:srgbClr val="64748B"/>
                </a:solidFill>
                <a:latin typeface="Inter"/>
              </a:rPr>
              <a:t> * Note: Project-defined risk score inspired by structured CVSS-like principles; not official CVSS.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2950" y="3029842"/>
            <a:ext cx="82525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568201" y="3029842"/>
            <a:ext cx="172194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90143" y="3029842"/>
            <a:ext cx="255746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847605" y="3029842"/>
            <a:ext cx="83566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950" y="5044380"/>
            <a:ext cx="114300" cy="1143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418314" y="2463105"/>
            <a:ext cx="19431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64748B"/>
                </a:solidFill>
                <a:latin typeface="Inter SemiBold"/>
              </a:rPr>
              <a:t>CUMULATIVE CHAIN SEVERITY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50025" y="2729805"/>
            <a:ext cx="4079825" cy="933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0" sz="1200" i="0" u="none">
                <a:solidFill>
                  <a:srgbClr val="E11D48"/>
                </a:solidFill>
                <a:latin typeface="Inter ExtraBold"/>
              </a:rPr>
              <a:t>22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50025" y="3777555"/>
            <a:ext cx="4079825" cy="346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b="0" sz="975" i="0" u="none">
                <a:solidFill>
                  <a:srgbClr val="334155"/>
                </a:solidFill>
                <a:latin typeface="Inter"/>
              </a:rPr>
              <a:t>Threshold: </a:t>
            </a:r>
            <a:r>
              <a:rPr b="1" sz="975" i="0" u="none">
                <a:solidFill>
                  <a:srgbClr val="334155"/>
                </a:solidFill>
                <a:latin typeface="Inter"/>
              </a:rPr>
              <a:t>16+ = HIGH</a:t>
            </a:r>
            <a:r>
              <a:rPr b="0" sz="975" i="0" u="none">
                <a:solidFill>
                  <a:srgbClr val="334155"/>
                </a:solidFill>
                <a:latin typeface="Inter"/>
              </a:rPr>
              <a:t>. The chain evolved from basic initial access to credential tampering and local data staging.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2950" y="3496567"/>
            <a:ext cx="825251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568201" y="3496567"/>
            <a:ext cx="1721941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90143" y="3496567"/>
            <a:ext cx="2557462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847605" y="3496567"/>
            <a:ext cx="835669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2950" y="3963292"/>
            <a:ext cx="825251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568201" y="3963292"/>
            <a:ext cx="1721941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90143" y="3963292"/>
            <a:ext cx="2557462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847605" y="3963292"/>
            <a:ext cx="835669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42950" y="4430017"/>
            <a:ext cx="825251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68201" y="4430017"/>
            <a:ext cx="1721941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90143" y="4430017"/>
            <a:ext cx="2557462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847605" y="4430017"/>
            <a:ext cx="835669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42950" y="4896742"/>
            <a:ext cx="825251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568201" y="4896742"/>
            <a:ext cx="1721941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290143" y="4896742"/>
            <a:ext cx="2557462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847605" y="4896742"/>
            <a:ext cx="835669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65976" y="3377505"/>
            <a:ext cx="1247775" cy="28575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46951" y="3463230"/>
            <a:ext cx="114300" cy="123825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7250" y="3148905"/>
            <a:ext cx="542925" cy="247650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61905" y="3163192"/>
            <a:ext cx="552450" cy="219075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7250" y="3615630"/>
            <a:ext cx="542925" cy="247650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61905" y="3629917"/>
            <a:ext cx="552450" cy="219075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57250" y="4082355"/>
            <a:ext cx="542925" cy="247650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961905" y="4096642"/>
            <a:ext cx="552450" cy="219075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57250" y="4549080"/>
            <a:ext cx="542925" cy="247650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961905" y="4563367"/>
            <a:ext cx="552450" cy="2190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2951857"/>
            <a:ext cx="3448050" cy="120193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1975" y="2951857"/>
            <a:ext cx="3448050" cy="120193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0075" y="3026122"/>
            <a:ext cx="3448050" cy="105340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875" y="4363342"/>
            <a:ext cx="5486400" cy="11334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81725" y="4363342"/>
            <a:ext cx="5486400" cy="11334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2012" y="409575"/>
            <a:ext cx="4055506" cy="371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950" i="0" u="none">
                <a:solidFill>
                  <a:srgbClr val="0F172A"/>
                </a:solidFill>
                <a:latin typeface="Poppins"/>
              </a:rPr>
              <a:t>Knowledge-Based Forecasting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96500" y="461962"/>
            <a:ext cx="1571625" cy="2667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3875" y="481012"/>
            <a:ext cx="223837" cy="228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2950" y="2289869"/>
            <a:ext cx="247650" cy="2476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05275" y="3476625"/>
            <a:ext cx="133350" cy="152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53375" y="3476625"/>
            <a:ext cx="133350" cy="152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43000" y="2208907"/>
            <a:ext cx="568071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oppins"/>
              </a:rPr>
              <a:t>"What could happen next?"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466082"/>
            <a:ext cx="54102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Inter"/>
              </a:rPr>
              <a:t>Anticipating adversary objectives before lateral expansion or destructive exfiltration occurs.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138362" y="3151882"/>
            <a:ext cx="219075" cy="1905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87692" y="3418582"/>
            <a:ext cx="332041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F172A"/>
                </a:solidFill>
                <a:latin typeface="Poppins"/>
              </a:rPr>
              <a:t>Observed Activity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750" y="3675757"/>
            <a:ext cx="3162300" cy="297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70"/>
              </a:lnSpc>
            </a:pPr>
            <a:r>
              <a:rPr b="0" sz="900" i="0" u="none">
                <a:solidFill>
                  <a:srgbClr val="64748B"/>
                </a:solidFill>
                <a:latin typeface="Inter"/>
              </a:rPr>
              <a:t>Current chronological chain of detected security techniques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10275" y="3151882"/>
            <a:ext cx="171450" cy="1905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435792" y="3418582"/>
            <a:ext cx="332041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F172A"/>
                </a:solidFill>
                <a:latin typeface="Poppins"/>
              </a:rPr>
              <a:t>MITRE Relationships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14850" y="3675757"/>
            <a:ext cx="3162300" cy="297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70"/>
              </a:lnSpc>
            </a:pPr>
            <a:r>
              <a:rPr b="0" sz="900" i="0" u="none">
                <a:solidFill>
                  <a:srgbClr val="64748B"/>
                </a:solidFill>
                <a:latin typeface="Inter"/>
              </a:rPr>
              <a:t>Documented adversary tactic sequences &amp; knowledge matrices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848850" y="3226147"/>
            <a:ext cx="190500" cy="1905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283892" y="3492847"/>
            <a:ext cx="332041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F172A"/>
                </a:solidFill>
                <a:latin typeface="Poppins"/>
              </a:rPr>
              <a:t>Plausible Next Technique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2950" y="3750022"/>
            <a:ext cx="3162300" cy="1485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70"/>
              </a:lnSpc>
            </a:pPr>
            <a:r>
              <a:rPr b="0" sz="900" i="0" u="none">
                <a:solidFill>
                  <a:srgbClr val="64748B"/>
                </a:solidFill>
                <a:latin typeface="Inter"/>
              </a:rPr>
              <a:t>Actionable, high-probability defensive intervention targets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544317"/>
            <a:ext cx="5160645" cy="200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oppins"/>
              </a:rPr>
              <a:t>Knowledge-Based Approach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850" y="4801492"/>
            <a:ext cx="51244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64748B"/>
                </a:solidFill>
                <a:latin typeface="Inter"/>
              </a:rPr>
              <a:t>The system uses documented MITRE ATT&amp;CK relationships and the observed attack sequence to identify commonly associated or plausible next techniques.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10350" y="4544317"/>
            <a:ext cx="5120640" cy="2000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oppins"/>
              </a:rPr>
              <a:t>Technically Honest System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62700" y="4801492"/>
            <a:ext cx="51244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64748B"/>
                </a:solidFill>
                <a:latin typeface="Inter"/>
              </a:rPr>
              <a:t>Strictly knowledge-based reasoning — </a:t>
            </a:r>
            <a:r>
              <a:rPr b="1" sz="900" i="0" u="none">
                <a:solidFill>
                  <a:srgbClr val="64748B"/>
                </a:solidFill>
                <a:latin typeface="Inter"/>
              </a:rPr>
              <a:t>NOT machine-learning prediction</a:t>
            </a:r>
            <a:r>
              <a:rPr b="0" sz="900" i="0" u="none">
                <a:solidFill>
                  <a:srgbClr val="64748B"/>
                </a:solidFill>
                <a:latin typeface="Inter"/>
              </a:rPr>
              <a:t>. Avoids fabricated confidence percentages (e.g. no "87% chance" or "92% confidence"), preserving operational credibility.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04850" y="4577655"/>
            <a:ext cx="133350" cy="13335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62700" y="4577655"/>
            <a:ext cx="171450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2547937"/>
            <a:ext cx="11144250" cy="4572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3138487"/>
            <a:ext cx="11144250" cy="3429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875" y="4557712"/>
            <a:ext cx="1114425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875" y="3595687"/>
            <a:ext cx="2137320" cy="7715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75495" y="3595687"/>
            <a:ext cx="2137469" cy="7715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7265" y="3595687"/>
            <a:ext cx="2137320" cy="7715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78885" y="3595687"/>
            <a:ext cx="2137469" cy="7715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30655" y="3595687"/>
            <a:ext cx="2137320" cy="7715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90587" y="409575"/>
            <a:ext cx="3695461" cy="3714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950" i="0" u="none">
                <a:solidFill>
                  <a:srgbClr val="0F172A"/>
                </a:solidFill>
                <a:latin typeface="Poppins"/>
              </a:rPr>
              <a:t>Dashboard &amp; Final Outcome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67937" y="461962"/>
            <a:ext cx="1500187" cy="2667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3875" y="481012"/>
            <a:ext cx="252412" cy="2286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963150" y="2652712"/>
            <a:ext cx="1524000" cy="2476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00100" y="3243262"/>
            <a:ext cx="542925" cy="133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825" i="0" u="none">
                <a:solidFill>
                  <a:srgbClr val="334155"/>
                </a:solidFill>
                <a:latin typeface="Inter SemiBold"/>
              </a:rPr>
              <a:t>Raw Alerts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0838" y="3243262"/>
            <a:ext cx="571500" cy="133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825" i="0" u="none">
                <a:solidFill>
                  <a:srgbClr val="334155"/>
                </a:solidFill>
                <a:latin typeface="Inter SemiBold"/>
              </a:rPr>
              <a:t>Correlation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70151" y="3243262"/>
            <a:ext cx="323850" cy="133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825" i="0" u="none">
                <a:solidFill>
                  <a:srgbClr val="334155"/>
                </a:solidFill>
                <a:latin typeface="Inter SemiBold"/>
              </a:rPr>
              <a:t>MITRE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71814" y="3243262"/>
            <a:ext cx="533400" cy="133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825" i="0" u="none">
                <a:solidFill>
                  <a:srgbClr val="334155"/>
                </a:solidFill>
                <a:latin typeface="Inter SemiBold"/>
              </a:rPr>
              <a:t>Risk Score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3028" y="3243262"/>
            <a:ext cx="800100" cy="133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825" i="0" u="none">
                <a:solidFill>
                  <a:srgbClr val="334155"/>
                </a:solidFill>
                <a:latin typeface="Inter SemiBold"/>
              </a:rPr>
              <a:t>Why This Score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0941" y="3243262"/>
            <a:ext cx="438150" cy="133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825" i="0" u="none">
                <a:solidFill>
                  <a:srgbClr val="334155"/>
                </a:solidFill>
                <a:latin typeface="Inter SemiBold"/>
              </a:rPr>
              <a:t>Forecast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62604" y="3243262"/>
            <a:ext cx="1143000" cy="133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825" i="0" u="none">
                <a:solidFill>
                  <a:srgbClr val="059669"/>
                </a:solidFill>
                <a:latin typeface="Inter SemiBold"/>
              </a:rPr>
              <a:t>Recommended 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0075" y="4719637"/>
            <a:ext cx="3228975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1" u="none">
                <a:solidFill>
                  <a:srgbClr val="64748B"/>
                </a:solidFill>
                <a:latin typeface="Inter Medium"/>
              </a:rPr>
              <a:t> * Demonstration results from project sample evaluation dataset. 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4850" y="2652712"/>
            <a:ext cx="857250" cy="2476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638300" y="2652712"/>
            <a:ext cx="1085850" cy="24765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800350" y="2652712"/>
            <a:ext cx="1190625" cy="24765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067175" y="2652712"/>
            <a:ext cx="990600" cy="24765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133975" y="2652712"/>
            <a:ext cx="695325" cy="24765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067925" y="2719387"/>
            <a:ext cx="114300" cy="1143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285875" y="3262312"/>
            <a:ext cx="57150" cy="9525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935188" y="3262312"/>
            <a:ext cx="57150" cy="9525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336851" y="3262312"/>
            <a:ext cx="57150" cy="9525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948064" y="3262312"/>
            <a:ext cx="57150" cy="9525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825978" y="3262312"/>
            <a:ext cx="57150" cy="9525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341941" y="3262312"/>
            <a:ext cx="57150" cy="9525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28650" y="3757612"/>
            <a:ext cx="192777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b="0" sz="2250" i="0" u="none">
                <a:solidFill>
                  <a:srgbClr val="0F172A"/>
                </a:solidFill>
                <a:latin typeface="Poppins ExtraBold"/>
              </a:rPr>
              <a:t>203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8650" y="4110037"/>
            <a:ext cx="192777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750" i="0" u="none">
                <a:solidFill>
                  <a:srgbClr val="64748B"/>
                </a:solidFill>
                <a:latin typeface="Inter SemiBold"/>
              </a:rPr>
              <a:t>RAW ALERTS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80270" y="3757612"/>
            <a:ext cx="1927919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b="0" sz="2250" i="0" u="none">
                <a:solidFill>
                  <a:srgbClr val="0F172A"/>
                </a:solidFill>
                <a:latin typeface="Poppins ExtraBold"/>
              </a:rPr>
              <a:t>184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80270" y="4110037"/>
            <a:ext cx="1927919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750" i="0" u="none">
                <a:solidFill>
                  <a:srgbClr val="64748B"/>
                </a:solidFill>
                <a:latin typeface="Inter SemiBold"/>
              </a:rPr>
              <a:t>CORRELATED GROUPS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32040" y="3757612"/>
            <a:ext cx="192777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b="0" sz="2250" i="0" u="none">
                <a:solidFill>
                  <a:srgbClr val="0284C7"/>
                </a:solidFill>
                <a:latin typeface="Poppins ExtraBold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32040" y="4110037"/>
            <a:ext cx="192777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750" i="0" u="none">
                <a:solidFill>
                  <a:srgbClr val="64748B"/>
                </a:solidFill>
                <a:latin typeface="Inter SemiBold"/>
              </a:rPr>
              <a:t>ATTACK CHAINS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83660" y="3757612"/>
            <a:ext cx="1927919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b="0" sz="2250" i="0" u="none">
                <a:solidFill>
                  <a:srgbClr val="E11D48"/>
                </a:solidFill>
                <a:latin typeface="Poppins ExtraBold"/>
              </a:rPr>
              <a:t>4 / 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83660" y="4110037"/>
            <a:ext cx="1927919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750" i="0" u="none">
                <a:solidFill>
                  <a:srgbClr val="64748B"/>
                </a:solidFill>
                <a:latin typeface="Inter SemiBold"/>
              </a:rPr>
              <a:t>HIGH / MED RISK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35430" y="3757612"/>
            <a:ext cx="192777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b="0" sz="2250" i="0" u="none">
                <a:solidFill>
                  <a:srgbClr val="059669"/>
                </a:solidFill>
                <a:latin typeface="Poppins ExtraBold"/>
              </a:rPr>
              <a:t>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35430" y="4110037"/>
            <a:ext cx="1927770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750" i="0" u="none">
                <a:solidFill>
                  <a:srgbClr val="64748B"/>
                </a:solidFill>
                <a:latin typeface="Inter SemiBold"/>
              </a:rPr>
              <a:t>ATTACKER IPS</a:t>
            </a: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81050" y="4700587"/>
            <a:ext cx="133350" cy="17145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028700" y="4705350"/>
            <a:ext cx="45720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75569"/>
                </a:solidFill>
                <a:latin typeface="Inter"/>
              </a:rPr>
              <a:t>Core Value Delivered:</a:t>
            </a:r>
            <a:r>
              <a:rPr b="0" sz="1050" i="0" u="none">
                <a:solidFill>
                  <a:srgbClr val="475569"/>
                </a:solidFill>
                <a:latin typeface="Inter Medium"/>
              </a:rPr>
              <a:t> From scattered alerts to a prioritised threat story.</a:t>
            </a:r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28675" y="2728912"/>
            <a:ext cx="104775" cy="104775"/>
          </a:xfrm>
          <a:prstGeom prst="rect">
            <a:avLst/>
          </a:prstGeom>
        </p:spPr>
      </p:pic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762125" y="2728912"/>
            <a:ext cx="104775" cy="104775"/>
          </a:xfrm>
          <a:prstGeom prst="rect">
            <a:avLst/>
          </a:prstGeom>
        </p:spPr>
      </p:pic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2924175" y="2728912"/>
            <a:ext cx="114300" cy="104775"/>
          </a:xfrm>
          <a:prstGeom prst="rect">
            <a:avLst/>
          </a:prstGeom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191000" y="2728912"/>
            <a:ext cx="95250" cy="104775"/>
          </a:xfrm>
          <a:prstGeom prst="rect">
            <a:avLst/>
          </a:prstGeom>
        </p:spPr>
      </p:pic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257800" y="2728912"/>
            <a:ext cx="104775" cy="1047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